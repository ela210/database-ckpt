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sldIdLst>
    <p:sldId id="256" r:id="rId2"/>
    <p:sldId id="257" r:id="rId3"/>
    <p:sldId id="262" r:id="rId4"/>
    <p:sldId id="263" r:id="rId5"/>
    <p:sldId id="264" r:id="rId6"/>
    <p:sldId id="265" r:id="rId7"/>
    <p:sldId id="266" r:id="rId8"/>
    <p:sldId id="267" r:id="rId9"/>
    <p:sldId id="268" r:id="rId10"/>
    <p:sldId id="269" r:id="rId11"/>
    <p:sldId id="270" r:id="rId12"/>
    <p:sldId id="25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264"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fr-FR"/>
              <a:t>Modifiez le style du titre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5/9/2022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5/9/2022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fr-FR"/>
              <a:t>Modifiez le style du titre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Date Placeholder 6"/>
          <p:cNvSpPr>
            <a:spLocks noGrp="1"/>
          </p:cNvSpPr>
          <p:nvPr>
            <p:ph type="dt" sz="half" idx="10"/>
          </p:nvPr>
        </p:nvSpPr>
        <p:spPr/>
        <p:txBody>
          <a:bodyPr/>
          <a:lstStyle/>
          <a:p>
            <a:fld id="{1160EA64-D806-43AC-9DF2-F8C432F32B4C}" type="datetimeFigureOut">
              <a:rPr lang="en-US" dirty="0"/>
              <a:t>5/9/2022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5/9/2022</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583436" y="3143250"/>
            <a:ext cx="4270248" cy="25967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7" name="Date Placeholder 6"/>
          <p:cNvSpPr>
            <a:spLocks noGrp="1"/>
          </p:cNvSpPr>
          <p:nvPr>
            <p:ph type="dt" sz="half" idx="10"/>
          </p:nvPr>
        </p:nvSpPr>
        <p:spPr/>
        <p:txBody>
          <a:bodyPr/>
          <a:lstStyle/>
          <a:p>
            <a:fld id="{4F7D4976-E339-4826-83B7-FBD03F55ECF8}" type="datetimeFigureOut">
              <a:rPr lang="en-US" dirty="0"/>
              <a:t>5/9/2022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‹N°›</a:t>
            </a:fld>
            <a:endParaRPr lang="en-US" dirty="0"/>
          </a:p>
        </p:txBody>
      </p:sp>
      <p:sp>
        <p:nvSpPr>
          <p:cNvPr id="10" name="Title 9"/>
          <p:cNvSpPr>
            <a:spLocks noGrp="1"/>
          </p:cNvSpPr>
          <p:nvPr>
            <p:ph type="title"/>
          </p:nvPr>
        </p:nvSpPr>
        <p:spPr/>
        <p:txBody>
          <a:bodyPr/>
          <a:lstStyle/>
          <a:p>
            <a:r>
              <a:rPr lang="fr-FR"/>
              <a:t>Modifiez le style du titre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5/9/2022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5/9/2022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bg>
      <p:bgRef idx="1001">
        <a:schemeClr val="bg2"/>
      </p:bgRef>
    </p:bg>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fr-FR"/>
              <a:t>Modifiez le style du titre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9" name="Date Placeholder 8"/>
          <p:cNvSpPr>
            <a:spLocks noGrp="1"/>
          </p:cNvSpPr>
          <p:nvPr>
            <p:ph type="dt" sz="half" idx="10"/>
          </p:nvPr>
        </p:nvSpPr>
        <p:spPr/>
        <p:txBody>
          <a:bodyPr/>
          <a:lstStyle/>
          <a:p>
            <a:fld id="{D1BE4249-C0D0-4B06-8692-E8BB871AF643}" type="datetimeFigureOut">
              <a:rPr lang="en-US" dirty="0"/>
              <a:t>5/9/2022</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‹N°›</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bg>
      <p:bgRef idx="1001">
        <a:schemeClr val="bg2"/>
      </p:bgRef>
    </p:bg>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6095999" y="0"/>
            <a:ext cx="6102097" cy="6858000"/>
          </a:xfrm>
          <a:solidFill>
            <a:schemeClr val="tx1">
              <a:lumMod val="8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5/9/2022</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‹N°›</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5/9/2022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5/9/2022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chemeClr val="bg2">
              <a:lumMod val="60000"/>
              <a:lumOff val="40000"/>
              <a:alpha val="15000"/>
            </a:schemeClr>
          </a:solidFill>
          <a:ln w="31750" cap="sq">
            <a:solidFill>
              <a:schemeClr val="tx1">
                <a:lumMod val="75000"/>
                <a:lumOff val="25000"/>
              </a:schemeClr>
            </a:solidFill>
            <a:miter lim="800000"/>
          </a:ln>
        </p:spPr>
        <p:txBody>
          <a:bodyPr vert="horz" lIns="182880" tIns="182880" rIns="182880" bIns="18288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5/9/2022</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69804"/>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‹N°›</a:t>
            </a:fld>
            <a:endParaRPr lang="en-US" dirty="0"/>
          </a:p>
        </p:txBody>
      </p:sp>
    </p:spTree>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searchsqlserver.techtarget.com/definition/SQL" TargetMode="External"/><Relationship Id="rId2" Type="http://schemas.openxmlformats.org/officeDocument/2006/relationships/hyperlink" Target="https://www.techtarget.com/searchdatamanagement/definition/relational-database"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aws.amazon.com/products/databases/open-source-databases/" TargetMode="External"/><Relationship Id="rId2" Type="http://schemas.openxmlformats.org/officeDocument/2006/relationships/hyperlink" Target="https://www.postgresql.org/" TargetMode="External"/><Relationship Id="rId1" Type="http://schemas.openxmlformats.org/officeDocument/2006/relationships/slideLayout" Target="../slideLayouts/slideLayout1.xml"/><Relationship Id="rId4" Type="http://schemas.openxmlformats.org/officeDocument/2006/relationships/hyperlink" Target="https://aws.amazon.com/blogs/database/postgresql-12-a-deep-dive-into-some-new-functionality/"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db-engines.com/en/ranking/relational+dbms" TargetMode="External"/><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C0F515-E037-4242-9B8F-42BE2227C1DB}"/>
              </a:ext>
            </a:extLst>
          </p:cNvPr>
          <p:cNvSpPr>
            <a:spLocks noGrp="1"/>
          </p:cNvSpPr>
          <p:nvPr>
            <p:ph type="ctrTitle"/>
          </p:nvPr>
        </p:nvSpPr>
        <p:spPr/>
        <p:txBody>
          <a:bodyPr/>
          <a:lstStyle/>
          <a:p>
            <a:r>
              <a:rPr lang="fr-FR" dirty="0"/>
              <a:t>Introduction to </a:t>
            </a:r>
            <a:r>
              <a:rPr lang="fr-FR" dirty="0" err="1"/>
              <a:t>database</a:t>
            </a:r>
            <a:endParaRPr lang="fr-FR" dirty="0"/>
          </a:p>
        </p:txBody>
      </p:sp>
      <p:sp>
        <p:nvSpPr>
          <p:cNvPr id="3" name="Sous-titre 2">
            <a:extLst>
              <a:ext uri="{FF2B5EF4-FFF2-40B4-BE49-F238E27FC236}">
                <a16:creationId xmlns:a16="http://schemas.microsoft.com/office/drawing/2014/main" id="{60DEBC11-3010-4C2A-A2CC-582A0CD9B872}"/>
              </a:ext>
            </a:extLst>
          </p:cNvPr>
          <p:cNvSpPr>
            <a:spLocks noGrp="1"/>
          </p:cNvSpPr>
          <p:nvPr>
            <p:ph type="subTitle" idx="1"/>
          </p:nvPr>
        </p:nvSpPr>
        <p:spPr>
          <a:xfrm>
            <a:off x="7190994" y="6361649"/>
            <a:ext cx="6801612" cy="1239894"/>
          </a:xfrm>
        </p:spPr>
        <p:txBody>
          <a:bodyPr/>
          <a:lstStyle/>
          <a:p>
            <a:r>
              <a:rPr lang="fr-FR" dirty="0" err="1">
                <a:solidFill>
                  <a:schemeClr val="accent3">
                    <a:lumMod val="75000"/>
                  </a:schemeClr>
                </a:solidFill>
              </a:rPr>
              <a:t>Prepared</a:t>
            </a:r>
            <a:r>
              <a:rPr lang="fr-FR" dirty="0">
                <a:solidFill>
                  <a:schemeClr val="accent3">
                    <a:lumMod val="75000"/>
                  </a:schemeClr>
                </a:solidFill>
              </a:rPr>
              <a:t> by Ela </a:t>
            </a:r>
            <a:r>
              <a:rPr lang="fr-FR" dirty="0" err="1">
                <a:solidFill>
                  <a:schemeClr val="accent3">
                    <a:lumMod val="75000"/>
                  </a:schemeClr>
                </a:solidFill>
              </a:rPr>
              <a:t>mannai</a:t>
            </a:r>
            <a:endParaRPr lang="fr-FR" dirty="0">
              <a:solidFill>
                <a:schemeClr val="accent3">
                  <a:lumMod val="75000"/>
                </a:schemeClr>
              </a:solidFill>
            </a:endParaRPr>
          </a:p>
        </p:txBody>
      </p:sp>
    </p:spTree>
    <p:extLst>
      <p:ext uri="{BB962C8B-B14F-4D97-AF65-F5344CB8AC3E}">
        <p14:creationId xmlns:p14="http://schemas.microsoft.com/office/powerpoint/2010/main" val="2054323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60DEBC11-3010-4C2A-A2CC-582A0CD9B872}"/>
              </a:ext>
            </a:extLst>
          </p:cNvPr>
          <p:cNvSpPr>
            <a:spLocks noGrp="1"/>
          </p:cNvSpPr>
          <p:nvPr>
            <p:ph type="subTitle" idx="1"/>
          </p:nvPr>
        </p:nvSpPr>
        <p:spPr>
          <a:xfrm>
            <a:off x="-1722260" y="398730"/>
            <a:ext cx="6801612" cy="1239894"/>
          </a:xfrm>
        </p:spPr>
        <p:txBody>
          <a:bodyPr/>
          <a:lstStyle/>
          <a:p>
            <a:r>
              <a:rPr lang="fr-FR" dirty="0" err="1">
                <a:solidFill>
                  <a:schemeClr val="accent1">
                    <a:lumMod val="50000"/>
                  </a:schemeClr>
                </a:solidFill>
              </a:rPr>
              <a:t>What</a:t>
            </a:r>
            <a:r>
              <a:rPr lang="fr-FR" dirty="0">
                <a:solidFill>
                  <a:schemeClr val="accent1">
                    <a:lumMod val="50000"/>
                  </a:schemeClr>
                </a:solidFill>
              </a:rPr>
              <a:t> </a:t>
            </a:r>
            <a:r>
              <a:rPr lang="fr-FR" dirty="0" err="1">
                <a:solidFill>
                  <a:schemeClr val="accent1">
                    <a:lumMod val="50000"/>
                  </a:schemeClr>
                </a:solidFill>
              </a:rPr>
              <a:t>is</a:t>
            </a:r>
            <a:r>
              <a:rPr lang="fr-FR" dirty="0">
                <a:solidFill>
                  <a:schemeClr val="accent1">
                    <a:lumMod val="50000"/>
                  </a:schemeClr>
                </a:solidFill>
              </a:rPr>
              <a:t> RDBMS</a:t>
            </a:r>
          </a:p>
        </p:txBody>
      </p:sp>
      <p:sp>
        <p:nvSpPr>
          <p:cNvPr id="7" name="ZoneTexte 6">
            <a:extLst>
              <a:ext uri="{FF2B5EF4-FFF2-40B4-BE49-F238E27FC236}">
                <a16:creationId xmlns:a16="http://schemas.microsoft.com/office/drawing/2014/main" id="{4015F0B7-A5CC-4CA6-A9FB-A44CB4BC4A55}"/>
              </a:ext>
            </a:extLst>
          </p:cNvPr>
          <p:cNvSpPr txBox="1"/>
          <p:nvPr/>
        </p:nvSpPr>
        <p:spPr>
          <a:xfrm>
            <a:off x="1152123" y="1539969"/>
            <a:ext cx="9887754" cy="2744277"/>
          </a:xfrm>
          <a:prstGeom prst="rect">
            <a:avLst/>
          </a:prstGeom>
          <a:noFill/>
        </p:spPr>
        <p:txBody>
          <a:bodyPr wrap="square">
            <a:spAutoFit/>
          </a:bodyPr>
          <a:lstStyle/>
          <a:p>
            <a:pPr>
              <a:lnSpc>
                <a:spcPct val="250000"/>
              </a:lnSpc>
            </a:pPr>
            <a:r>
              <a:rPr lang="en-US" i="0" dirty="0">
                <a:solidFill>
                  <a:schemeClr val="bg1"/>
                </a:solidFill>
                <a:effectLst/>
                <a:latin typeface="+mj-lt"/>
              </a:rPr>
              <a:t> (RDBMS) is a collection of programs and capabilities that enable IT teams and others to create, update, administer and otherwise interact with a </a:t>
            </a:r>
            <a:r>
              <a:rPr lang="en-US" i="0" u="sng" dirty="0">
                <a:solidFill>
                  <a:schemeClr val="bg1"/>
                </a:solidFill>
                <a:effectLst/>
                <a:latin typeface="+mj-lt"/>
                <a:hlinkClick r:id="rId2">
                  <a:extLst>
                    <a:ext uri="{A12FA001-AC4F-418D-AE19-62706E023703}">
                      <ahyp:hlinkClr xmlns:ahyp="http://schemas.microsoft.com/office/drawing/2018/hyperlinkcolor" val="tx"/>
                    </a:ext>
                  </a:extLst>
                </a:hlinkClick>
              </a:rPr>
              <a:t>relational database</a:t>
            </a:r>
            <a:r>
              <a:rPr lang="en-US" i="0" dirty="0">
                <a:solidFill>
                  <a:schemeClr val="bg1"/>
                </a:solidFill>
                <a:effectLst/>
                <a:latin typeface="+mj-lt"/>
              </a:rPr>
              <a:t>. </a:t>
            </a:r>
            <a:r>
              <a:rPr lang="en-US" i="0" dirty="0" err="1">
                <a:solidFill>
                  <a:schemeClr val="bg1"/>
                </a:solidFill>
                <a:effectLst/>
                <a:latin typeface="+mj-lt"/>
              </a:rPr>
              <a:t>RDBMSes</a:t>
            </a:r>
            <a:r>
              <a:rPr lang="en-US" i="0" dirty="0">
                <a:solidFill>
                  <a:schemeClr val="bg1"/>
                </a:solidFill>
                <a:effectLst/>
                <a:latin typeface="+mj-lt"/>
              </a:rPr>
              <a:t> store data in the form of tables, with most commercial relational database management systems using </a:t>
            </a:r>
            <a:r>
              <a:rPr lang="en-US" i="0" u="sng" dirty="0">
                <a:solidFill>
                  <a:schemeClr val="bg1"/>
                </a:solidFill>
                <a:effectLst/>
                <a:latin typeface="+mj-lt"/>
                <a:hlinkClick r:id="rId3">
                  <a:extLst>
                    <a:ext uri="{A12FA001-AC4F-418D-AE19-62706E023703}">
                      <ahyp:hlinkClr xmlns:ahyp="http://schemas.microsoft.com/office/drawing/2018/hyperlinkcolor" val="tx"/>
                    </a:ext>
                  </a:extLst>
                </a:hlinkClick>
              </a:rPr>
              <a:t>Structured Query Language</a:t>
            </a:r>
            <a:r>
              <a:rPr lang="en-US" i="0" dirty="0">
                <a:solidFill>
                  <a:schemeClr val="bg1"/>
                </a:solidFill>
                <a:effectLst/>
                <a:latin typeface="+mj-lt"/>
              </a:rPr>
              <a:t> (</a:t>
            </a:r>
            <a:r>
              <a:rPr lang="en-US" i="0" u="none" strike="noStrike" dirty="0">
                <a:solidFill>
                  <a:schemeClr val="bg1"/>
                </a:solidFill>
                <a:effectLst/>
                <a:latin typeface="+mj-lt"/>
              </a:rPr>
              <a:t>SQL</a:t>
            </a:r>
            <a:r>
              <a:rPr lang="en-US" i="0" dirty="0">
                <a:solidFill>
                  <a:schemeClr val="bg1"/>
                </a:solidFill>
                <a:effectLst/>
                <a:latin typeface="+mj-lt"/>
              </a:rPr>
              <a:t>) to access the database</a:t>
            </a:r>
            <a:endParaRPr lang="fr-FR" dirty="0">
              <a:solidFill>
                <a:schemeClr val="bg1"/>
              </a:solidFill>
              <a:latin typeface="+mj-lt"/>
            </a:endParaRPr>
          </a:p>
        </p:txBody>
      </p:sp>
      <p:pic>
        <p:nvPicPr>
          <p:cNvPr id="9" name="Image 8">
            <a:extLst>
              <a:ext uri="{FF2B5EF4-FFF2-40B4-BE49-F238E27FC236}">
                <a16:creationId xmlns:a16="http://schemas.microsoft.com/office/drawing/2014/main" id="{C05F3D66-5009-4EB8-B37A-535259C94D9F}"/>
              </a:ext>
            </a:extLst>
          </p:cNvPr>
          <p:cNvPicPr>
            <a:picLocks noChangeAspect="1"/>
          </p:cNvPicPr>
          <p:nvPr/>
        </p:nvPicPr>
        <p:blipFill>
          <a:blip r:embed="rId4"/>
          <a:stretch>
            <a:fillRect/>
          </a:stretch>
        </p:blipFill>
        <p:spPr>
          <a:xfrm>
            <a:off x="6259133" y="4215395"/>
            <a:ext cx="5642908" cy="2420179"/>
          </a:xfrm>
          <a:prstGeom prst="rect">
            <a:avLst/>
          </a:prstGeom>
        </p:spPr>
      </p:pic>
    </p:spTree>
    <p:extLst>
      <p:ext uri="{BB962C8B-B14F-4D97-AF65-F5344CB8AC3E}">
        <p14:creationId xmlns:p14="http://schemas.microsoft.com/office/powerpoint/2010/main" val="4255534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60DEBC11-3010-4C2A-A2CC-582A0CD9B872}"/>
              </a:ext>
            </a:extLst>
          </p:cNvPr>
          <p:cNvSpPr>
            <a:spLocks noGrp="1"/>
          </p:cNvSpPr>
          <p:nvPr>
            <p:ph type="subTitle" idx="1"/>
          </p:nvPr>
        </p:nvSpPr>
        <p:spPr>
          <a:xfrm>
            <a:off x="-1207105" y="424488"/>
            <a:ext cx="6801612" cy="1239894"/>
          </a:xfrm>
        </p:spPr>
        <p:txBody>
          <a:bodyPr/>
          <a:lstStyle/>
          <a:p>
            <a:r>
              <a:rPr lang="fr-FR" dirty="0" err="1">
                <a:solidFill>
                  <a:schemeClr val="accent1">
                    <a:lumMod val="50000"/>
                  </a:schemeClr>
                </a:solidFill>
              </a:rPr>
              <a:t>What</a:t>
            </a:r>
            <a:r>
              <a:rPr lang="fr-FR" dirty="0">
                <a:solidFill>
                  <a:schemeClr val="accent1">
                    <a:lumMod val="50000"/>
                  </a:schemeClr>
                </a:solidFill>
              </a:rPr>
              <a:t> are RDBMS </a:t>
            </a:r>
            <a:r>
              <a:rPr lang="fr-FR" dirty="0" err="1">
                <a:solidFill>
                  <a:schemeClr val="accent1">
                    <a:lumMod val="50000"/>
                  </a:schemeClr>
                </a:solidFill>
              </a:rPr>
              <a:t>relational</a:t>
            </a:r>
            <a:r>
              <a:rPr lang="fr-FR" dirty="0">
                <a:solidFill>
                  <a:schemeClr val="accent1">
                    <a:lumMod val="50000"/>
                  </a:schemeClr>
                </a:solidFill>
              </a:rPr>
              <a:t> ?</a:t>
            </a:r>
          </a:p>
        </p:txBody>
      </p:sp>
      <p:sp>
        <p:nvSpPr>
          <p:cNvPr id="7" name="ZoneTexte 6">
            <a:extLst>
              <a:ext uri="{FF2B5EF4-FFF2-40B4-BE49-F238E27FC236}">
                <a16:creationId xmlns:a16="http://schemas.microsoft.com/office/drawing/2014/main" id="{4015F0B7-A5CC-4CA6-A9FB-A44CB4BC4A55}"/>
              </a:ext>
            </a:extLst>
          </p:cNvPr>
          <p:cNvSpPr txBox="1"/>
          <p:nvPr/>
        </p:nvSpPr>
        <p:spPr>
          <a:xfrm>
            <a:off x="1152123" y="2065165"/>
            <a:ext cx="9887754" cy="1363835"/>
          </a:xfrm>
          <a:prstGeom prst="rect">
            <a:avLst/>
          </a:prstGeom>
          <a:noFill/>
        </p:spPr>
        <p:txBody>
          <a:bodyPr wrap="square">
            <a:spAutoFit/>
          </a:bodyPr>
          <a:lstStyle/>
          <a:p>
            <a:pPr>
              <a:lnSpc>
                <a:spcPct val="250000"/>
              </a:lnSpc>
            </a:pPr>
            <a:r>
              <a:rPr lang="en-US" b="0" i="0" dirty="0">
                <a:solidFill>
                  <a:srgbClr val="333333"/>
                </a:solidFill>
                <a:effectLst/>
                <a:latin typeface="inter-regular"/>
              </a:rPr>
              <a:t>All modern database management systems like </a:t>
            </a:r>
            <a:r>
              <a:rPr lang="en-US" b="0" i="0" dirty="0">
                <a:solidFill>
                  <a:schemeClr val="bg1"/>
                </a:solidFill>
                <a:effectLst/>
                <a:latin typeface="+mj-lt"/>
              </a:rPr>
              <a:t>MySQL, PostgreSQL and SQL SERVER </a:t>
            </a:r>
            <a:r>
              <a:rPr lang="en-US" b="0" i="0" dirty="0">
                <a:solidFill>
                  <a:srgbClr val="D9D3CB"/>
                </a:solidFill>
                <a:effectLst/>
                <a:latin typeface="Montserrat" panose="00000500000000000000" pitchFamily="2" charset="0"/>
              </a:rPr>
              <a:t>.</a:t>
            </a:r>
            <a:r>
              <a:rPr lang="en-US" b="0" i="0" dirty="0">
                <a:solidFill>
                  <a:srgbClr val="333333"/>
                </a:solidFill>
                <a:effectLst/>
                <a:latin typeface="inter-regular"/>
              </a:rPr>
              <a:t>, and Microsoft Access are based on RDBMS.</a:t>
            </a:r>
            <a:endParaRPr lang="fr-FR" dirty="0">
              <a:solidFill>
                <a:schemeClr val="bg1"/>
              </a:solidFill>
              <a:latin typeface="+mj-lt"/>
            </a:endParaRPr>
          </a:p>
        </p:txBody>
      </p:sp>
      <p:pic>
        <p:nvPicPr>
          <p:cNvPr id="4" name="Image 3">
            <a:extLst>
              <a:ext uri="{FF2B5EF4-FFF2-40B4-BE49-F238E27FC236}">
                <a16:creationId xmlns:a16="http://schemas.microsoft.com/office/drawing/2014/main" id="{B65F7956-5231-4FD9-8BD8-0B39887CDC48}"/>
              </a:ext>
            </a:extLst>
          </p:cNvPr>
          <p:cNvPicPr>
            <a:picLocks noChangeAspect="1"/>
          </p:cNvPicPr>
          <p:nvPr/>
        </p:nvPicPr>
        <p:blipFill>
          <a:blip r:embed="rId2"/>
          <a:stretch>
            <a:fillRect/>
          </a:stretch>
        </p:blipFill>
        <p:spPr>
          <a:xfrm>
            <a:off x="4689184" y="3749497"/>
            <a:ext cx="7115175" cy="2990850"/>
          </a:xfrm>
          <a:prstGeom prst="rect">
            <a:avLst/>
          </a:prstGeom>
        </p:spPr>
      </p:pic>
    </p:spTree>
    <p:extLst>
      <p:ext uri="{BB962C8B-B14F-4D97-AF65-F5344CB8AC3E}">
        <p14:creationId xmlns:p14="http://schemas.microsoft.com/office/powerpoint/2010/main" val="2598289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60DEBC11-3010-4C2A-A2CC-582A0CD9B872}"/>
              </a:ext>
            </a:extLst>
          </p:cNvPr>
          <p:cNvSpPr>
            <a:spLocks noGrp="1"/>
          </p:cNvSpPr>
          <p:nvPr>
            <p:ph type="subTitle" idx="1"/>
          </p:nvPr>
        </p:nvSpPr>
        <p:spPr>
          <a:xfrm>
            <a:off x="-1863928" y="398730"/>
            <a:ext cx="6801612" cy="1239894"/>
          </a:xfrm>
        </p:spPr>
        <p:txBody>
          <a:bodyPr/>
          <a:lstStyle/>
          <a:p>
            <a:r>
              <a:rPr lang="fr-FR" dirty="0" err="1">
                <a:solidFill>
                  <a:schemeClr val="accent1">
                    <a:lumMod val="50000"/>
                  </a:schemeClr>
                </a:solidFill>
              </a:rPr>
              <a:t>What</a:t>
            </a:r>
            <a:r>
              <a:rPr lang="fr-FR" dirty="0">
                <a:solidFill>
                  <a:schemeClr val="accent1">
                    <a:lumMod val="50000"/>
                  </a:schemeClr>
                </a:solidFill>
              </a:rPr>
              <a:t> </a:t>
            </a:r>
            <a:r>
              <a:rPr lang="fr-FR" dirty="0" err="1">
                <a:solidFill>
                  <a:schemeClr val="accent1">
                    <a:lumMod val="50000"/>
                  </a:schemeClr>
                </a:solidFill>
              </a:rPr>
              <a:t>is</a:t>
            </a:r>
            <a:r>
              <a:rPr lang="fr-FR" dirty="0">
                <a:solidFill>
                  <a:schemeClr val="accent1">
                    <a:lumMod val="50000"/>
                  </a:schemeClr>
                </a:solidFill>
              </a:rPr>
              <a:t> SQL Server ?</a:t>
            </a:r>
          </a:p>
        </p:txBody>
      </p:sp>
      <p:sp>
        <p:nvSpPr>
          <p:cNvPr id="7" name="ZoneTexte 6">
            <a:extLst>
              <a:ext uri="{FF2B5EF4-FFF2-40B4-BE49-F238E27FC236}">
                <a16:creationId xmlns:a16="http://schemas.microsoft.com/office/drawing/2014/main" id="{4015F0B7-A5CC-4CA6-A9FB-A44CB4BC4A55}"/>
              </a:ext>
            </a:extLst>
          </p:cNvPr>
          <p:cNvSpPr txBox="1"/>
          <p:nvPr/>
        </p:nvSpPr>
        <p:spPr>
          <a:xfrm>
            <a:off x="791514" y="1352282"/>
            <a:ext cx="11211595" cy="2748829"/>
          </a:xfrm>
          <a:prstGeom prst="rect">
            <a:avLst/>
          </a:prstGeom>
          <a:noFill/>
        </p:spPr>
        <p:txBody>
          <a:bodyPr wrap="square">
            <a:spAutoFit/>
          </a:bodyPr>
          <a:lstStyle/>
          <a:p>
            <a:pPr>
              <a:lnSpc>
                <a:spcPct val="250000"/>
              </a:lnSpc>
            </a:pPr>
            <a:r>
              <a:rPr lang="en-US" b="0" i="0" dirty="0">
                <a:solidFill>
                  <a:srgbClr val="002E3F"/>
                </a:solidFill>
                <a:effectLst/>
                <a:latin typeface="bebas-neue-pro-expanded"/>
              </a:rPr>
              <a:t>SQL stands for </a:t>
            </a:r>
            <a:r>
              <a:rPr lang="en-US" b="1" i="0" dirty="0">
                <a:solidFill>
                  <a:srgbClr val="002E3F"/>
                </a:solidFill>
                <a:effectLst/>
                <a:latin typeface="bebas-neue-pro-expanded"/>
              </a:rPr>
              <a:t>Structured Query Language</a:t>
            </a:r>
            <a:r>
              <a:rPr lang="en-US" b="0" i="0" dirty="0">
                <a:solidFill>
                  <a:srgbClr val="002E3F"/>
                </a:solidFill>
                <a:effectLst/>
                <a:latin typeface="bebas-neue-pro-expanded"/>
              </a:rPr>
              <a:t>. SQL is used to communicate with a database. According to ANSI (American National Standards Institute), it is the standard language for relational database management systems. SQL statements are used to perform tasks such as update data on a database, or retrieve data from a database. Some common relational database management systems that use SQL are: Oracle, Sybase, Microsoft SQL Server, Access, Ingres, etc.</a:t>
            </a:r>
            <a:endParaRPr lang="fr-FR" dirty="0">
              <a:solidFill>
                <a:schemeClr val="bg1"/>
              </a:solidFill>
              <a:latin typeface="+mj-lt"/>
            </a:endParaRPr>
          </a:p>
        </p:txBody>
      </p:sp>
      <p:pic>
        <p:nvPicPr>
          <p:cNvPr id="4" name="Image 3">
            <a:extLst>
              <a:ext uri="{FF2B5EF4-FFF2-40B4-BE49-F238E27FC236}">
                <a16:creationId xmlns:a16="http://schemas.microsoft.com/office/drawing/2014/main" id="{A258A678-664A-4615-B523-94C9AF5D306E}"/>
              </a:ext>
            </a:extLst>
          </p:cNvPr>
          <p:cNvPicPr>
            <a:picLocks noChangeAspect="1"/>
          </p:cNvPicPr>
          <p:nvPr/>
        </p:nvPicPr>
        <p:blipFill>
          <a:blip r:embed="rId2"/>
          <a:stretch>
            <a:fillRect/>
          </a:stretch>
        </p:blipFill>
        <p:spPr>
          <a:xfrm>
            <a:off x="7083379" y="4556725"/>
            <a:ext cx="4600709" cy="2180736"/>
          </a:xfrm>
          <a:prstGeom prst="rect">
            <a:avLst/>
          </a:prstGeom>
        </p:spPr>
      </p:pic>
    </p:spTree>
    <p:extLst>
      <p:ext uri="{BB962C8B-B14F-4D97-AF65-F5344CB8AC3E}">
        <p14:creationId xmlns:p14="http://schemas.microsoft.com/office/powerpoint/2010/main" val="1020528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60DEBC11-3010-4C2A-A2CC-582A0CD9B872}"/>
              </a:ext>
            </a:extLst>
          </p:cNvPr>
          <p:cNvSpPr>
            <a:spLocks noGrp="1"/>
          </p:cNvSpPr>
          <p:nvPr>
            <p:ph type="subTitle" idx="1"/>
          </p:nvPr>
        </p:nvSpPr>
        <p:spPr>
          <a:xfrm>
            <a:off x="-2069990" y="385851"/>
            <a:ext cx="6801612" cy="1239894"/>
          </a:xfrm>
        </p:spPr>
        <p:txBody>
          <a:bodyPr/>
          <a:lstStyle/>
          <a:p>
            <a:r>
              <a:rPr lang="fr-FR" dirty="0" err="1">
                <a:solidFill>
                  <a:schemeClr val="accent1">
                    <a:lumMod val="50000"/>
                  </a:schemeClr>
                </a:solidFill>
              </a:rPr>
              <a:t>What</a:t>
            </a:r>
            <a:r>
              <a:rPr lang="fr-FR" dirty="0">
                <a:solidFill>
                  <a:schemeClr val="accent1">
                    <a:lumMod val="50000"/>
                  </a:schemeClr>
                </a:solidFill>
              </a:rPr>
              <a:t> </a:t>
            </a:r>
            <a:r>
              <a:rPr lang="fr-FR" dirty="0" err="1">
                <a:solidFill>
                  <a:schemeClr val="accent1">
                    <a:lumMod val="50000"/>
                  </a:schemeClr>
                </a:solidFill>
              </a:rPr>
              <a:t>is</a:t>
            </a:r>
            <a:r>
              <a:rPr lang="fr-FR" dirty="0">
                <a:solidFill>
                  <a:schemeClr val="accent1">
                    <a:lumMod val="50000"/>
                  </a:schemeClr>
                </a:solidFill>
              </a:rPr>
              <a:t> </a:t>
            </a:r>
            <a:r>
              <a:rPr lang="fr-FR" dirty="0" err="1">
                <a:solidFill>
                  <a:schemeClr val="accent1">
                    <a:lumMod val="50000"/>
                  </a:schemeClr>
                </a:solidFill>
              </a:rPr>
              <a:t>MySql</a:t>
            </a:r>
            <a:r>
              <a:rPr lang="fr-FR" dirty="0">
                <a:solidFill>
                  <a:schemeClr val="accent1">
                    <a:lumMod val="50000"/>
                  </a:schemeClr>
                </a:solidFill>
              </a:rPr>
              <a:t> ?</a:t>
            </a:r>
          </a:p>
        </p:txBody>
      </p:sp>
      <p:sp>
        <p:nvSpPr>
          <p:cNvPr id="7" name="ZoneTexte 6">
            <a:extLst>
              <a:ext uri="{FF2B5EF4-FFF2-40B4-BE49-F238E27FC236}">
                <a16:creationId xmlns:a16="http://schemas.microsoft.com/office/drawing/2014/main" id="{4015F0B7-A5CC-4CA6-A9FB-A44CB4BC4A55}"/>
              </a:ext>
            </a:extLst>
          </p:cNvPr>
          <p:cNvSpPr txBox="1"/>
          <p:nvPr/>
        </p:nvSpPr>
        <p:spPr>
          <a:xfrm>
            <a:off x="1152123" y="1760017"/>
            <a:ext cx="9887754" cy="3337965"/>
          </a:xfrm>
          <a:prstGeom prst="rect">
            <a:avLst/>
          </a:prstGeom>
          <a:noFill/>
        </p:spPr>
        <p:txBody>
          <a:bodyPr wrap="square">
            <a:spAutoFit/>
          </a:bodyPr>
          <a:lstStyle/>
          <a:p>
            <a:pPr algn="l">
              <a:lnSpc>
                <a:spcPct val="200000"/>
              </a:lnSpc>
            </a:pPr>
            <a:r>
              <a:rPr lang="en-US" i="0" dirty="0">
                <a:solidFill>
                  <a:schemeClr val="bg1"/>
                </a:solidFill>
                <a:effectLst/>
                <a:latin typeface="Source Sans Pro" panose="020B0503030403020204" pitchFamily="34" charset="0"/>
              </a:rPr>
              <a:t>MySQL is a relational database management system (RDBMS) developed by Oracle that is based on structured query language (SQL).</a:t>
            </a:r>
          </a:p>
          <a:p>
            <a:pPr algn="l">
              <a:lnSpc>
                <a:spcPct val="200000"/>
              </a:lnSpc>
            </a:pPr>
            <a:r>
              <a:rPr lang="en-US" i="0" dirty="0">
                <a:solidFill>
                  <a:schemeClr val="bg1"/>
                </a:solidFill>
                <a:effectLst/>
                <a:latin typeface="Source Sans Pro" panose="020B0503030403020204" pitchFamily="34" charset="0"/>
              </a:rPr>
              <a:t>A database is a structured collection of data. It may be anything from a simple shopping list to a picture gallery or a place to hold the vast amounts of information in a corporate network. In particular, a relational database is a digital store collecting data and organizing it according to the relational model. </a:t>
            </a:r>
          </a:p>
        </p:txBody>
      </p:sp>
    </p:spTree>
    <p:extLst>
      <p:ext uri="{BB962C8B-B14F-4D97-AF65-F5344CB8AC3E}">
        <p14:creationId xmlns:p14="http://schemas.microsoft.com/office/powerpoint/2010/main" val="876977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60DEBC11-3010-4C2A-A2CC-582A0CD9B872}"/>
              </a:ext>
            </a:extLst>
          </p:cNvPr>
          <p:cNvSpPr>
            <a:spLocks noGrp="1"/>
          </p:cNvSpPr>
          <p:nvPr>
            <p:ph type="subTitle" idx="1"/>
          </p:nvPr>
        </p:nvSpPr>
        <p:spPr>
          <a:xfrm>
            <a:off x="-1812412" y="398730"/>
            <a:ext cx="6801612" cy="1239894"/>
          </a:xfrm>
        </p:spPr>
        <p:txBody>
          <a:bodyPr/>
          <a:lstStyle/>
          <a:p>
            <a:r>
              <a:rPr lang="fr-FR" dirty="0" err="1">
                <a:solidFill>
                  <a:schemeClr val="accent1">
                    <a:lumMod val="50000"/>
                  </a:schemeClr>
                </a:solidFill>
              </a:rPr>
              <a:t>What</a:t>
            </a:r>
            <a:r>
              <a:rPr lang="fr-FR" dirty="0">
                <a:solidFill>
                  <a:schemeClr val="accent1">
                    <a:lumMod val="50000"/>
                  </a:schemeClr>
                </a:solidFill>
              </a:rPr>
              <a:t> </a:t>
            </a:r>
            <a:r>
              <a:rPr lang="fr-FR" dirty="0" err="1">
                <a:solidFill>
                  <a:schemeClr val="accent1">
                    <a:lumMod val="50000"/>
                  </a:schemeClr>
                </a:solidFill>
              </a:rPr>
              <a:t>is</a:t>
            </a:r>
            <a:r>
              <a:rPr lang="fr-FR" dirty="0">
                <a:solidFill>
                  <a:schemeClr val="accent1">
                    <a:lumMod val="50000"/>
                  </a:schemeClr>
                </a:solidFill>
              </a:rPr>
              <a:t> </a:t>
            </a:r>
            <a:r>
              <a:rPr lang="fr-FR" dirty="0" err="1">
                <a:solidFill>
                  <a:schemeClr val="accent1">
                    <a:lumMod val="50000"/>
                  </a:schemeClr>
                </a:solidFill>
              </a:rPr>
              <a:t>MySql</a:t>
            </a:r>
            <a:r>
              <a:rPr lang="fr-FR" dirty="0">
                <a:solidFill>
                  <a:schemeClr val="accent1">
                    <a:lumMod val="50000"/>
                  </a:schemeClr>
                </a:solidFill>
              </a:rPr>
              <a:t> ?</a:t>
            </a:r>
          </a:p>
          <a:p>
            <a:endParaRPr lang="fr-FR" dirty="0">
              <a:solidFill>
                <a:schemeClr val="accent1">
                  <a:lumMod val="50000"/>
                </a:schemeClr>
              </a:solidFill>
            </a:endParaRPr>
          </a:p>
        </p:txBody>
      </p:sp>
      <p:sp>
        <p:nvSpPr>
          <p:cNvPr id="7" name="ZoneTexte 6">
            <a:extLst>
              <a:ext uri="{FF2B5EF4-FFF2-40B4-BE49-F238E27FC236}">
                <a16:creationId xmlns:a16="http://schemas.microsoft.com/office/drawing/2014/main" id="{4015F0B7-A5CC-4CA6-A9FB-A44CB4BC4A55}"/>
              </a:ext>
            </a:extLst>
          </p:cNvPr>
          <p:cNvSpPr txBox="1"/>
          <p:nvPr/>
        </p:nvSpPr>
        <p:spPr>
          <a:xfrm>
            <a:off x="1049092" y="1865729"/>
            <a:ext cx="9887754" cy="2055756"/>
          </a:xfrm>
          <a:prstGeom prst="rect">
            <a:avLst/>
          </a:prstGeom>
          <a:noFill/>
        </p:spPr>
        <p:txBody>
          <a:bodyPr wrap="square">
            <a:spAutoFit/>
          </a:bodyPr>
          <a:lstStyle/>
          <a:p>
            <a:pPr>
              <a:lnSpc>
                <a:spcPct val="250000"/>
              </a:lnSpc>
            </a:pPr>
            <a:r>
              <a:rPr lang="en-US" b="0" i="0" dirty="0">
                <a:solidFill>
                  <a:schemeClr val="bg1"/>
                </a:solidFill>
                <a:effectLst/>
                <a:latin typeface="Source Sans Pro" panose="020B0503030403020204" pitchFamily="34" charset="0"/>
              </a:rPr>
              <a:t>In this model, tables consist of rows and columns, and relationships between data elements all follow a strict logical structure. An RDBMS is simply the set of software tools used to actually implement, manage, and query such a database. </a:t>
            </a:r>
            <a:endParaRPr lang="fr-FR" dirty="0">
              <a:solidFill>
                <a:schemeClr val="bg1"/>
              </a:solidFill>
              <a:latin typeface="+mj-lt"/>
            </a:endParaRPr>
          </a:p>
        </p:txBody>
      </p:sp>
      <p:pic>
        <p:nvPicPr>
          <p:cNvPr id="4" name="Image 3">
            <a:extLst>
              <a:ext uri="{FF2B5EF4-FFF2-40B4-BE49-F238E27FC236}">
                <a16:creationId xmlns:a16="http://schemas.microsoft.com/office/drawing/2014/main" id="{04D93947-EE05-496A-9F6F-6D4BD22C1136}"/>
              </a:ext>
            </a:extLst>
          </p:cNvPr>
          <p:cNvPicPr>
            <a:picLocks noChangeAspect="1"/>
          </p:cNvPicPr>
          <p:nvPr/>
        </p:nvPicPr>
        <p:blipFill>
          <a:blip r:embed="rId2"/>
          <a:stretch>
            <a:fillRect/>
          </a:stretch>
        </p:blipFill>
        <p:spPr>
          <a:xfrm>
            <a:off x="6096000" y="3921485"/>
            <a:ext cx="5450446" cy="2820606"/>
          </a:xfrm>
          <a:prstGeom prst="rect">
            <a:avLst/>
          </a:prstGeom>
        </p:spPr>
      </p:pic>
    </p:spTree>
    <p:extLst>
      <p:ext uri="{BB962C8B-B14F-4D97-AF65-F5344CB8AC3E}">
        <p14:creationId xmlns:p14="http://schemas.microsoft.com/office/powerpoint/2010/main" val="2876885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60DEBC11-3010-4C2A-A2CC-582A0CD9B872}"/>
              </a:ext>
            </a:extLst>
          </p:cNvPr>
          <p:cNvSpPr>
            <a:spLocks noGrp="1"/>
          </p:cNvSpPr>
          <p:nvPr>
            <p:ph type="subTitle" idx="1"/>
          </p:nvPr>
        </p:nvSpPr>
        <p:spPr>
          <a:xfrm>
            <a:off x="-1812412" y="398730"/>
            <a:ext cx="6801612" cy="1239894"/>
          </a:xfrm>
        </p:spPr>
        <p:txBody>
          <a:bodyPr/>
          <a:lstStyle/>
          <a:p>
            <a:r>
              <a:rPr lang="fr-FR" dirty="0" err="1">
                <a:solidFill>
                  <a:schemeClr val="accent1">
                    <a:lumMod val="50000"/>
                  </a:schemeClr>
                </a:solidFill>
              </a:rPr>
              <a:t>What</a:t>
            </a:r>
            <a:r>
              <a:rPr lang="fr-FR" dirty="0">
                <a:solidFill>
                  <a:schemeClr val="accent1">
                    <a:lumMod val="50000"/>
                  </a:schemeClr>
                </a:solidFill>
              </a:rPr>
              <a:t> </a:t>
            </a:r>
            <a:r>
              <a:rPr lang="fr-FR" dirty="0" err="1">
                <a:solidFill>
                  <a:schemeClr val="accent1">
                    <a:lumMod val="50000"/>
                  </a:schemeClr>
                </a:solidFill>
              </a:rPr>
              <a:t>is</a:t>
            </a:r>
            <a:r>
              <a:rPr lang="fr-FR" dirty="0">
                <a:solidFill>
                  <a:schemeClr val="accent1">
                    <a:lumMod val="50000"/>
                  </a:schemeClr>
                </a:solidFill>
              </a:rPr>
              <a:t> PostgreSQL ?</a:t>
            </a:r>
          </a:p>
          <a:p>
            <a:endParaRPr lang="fr-FR" dirty="0">
              <a:solidFill>
                <a:schemeClr val="accent1">
                  <a:lumMod val="50000"/>
                </a:schemeClr>
              </a:solidFill>
            </a:endParaRPr>
          </a:p>
        </p:txBody>
      </p:sp>
      <p:sp>
        <p:nvSpPr>
          <p:cNvPr id="7" name="ZoneTexte 6">
            <a:extLst>
              <a:ext uri="{FF2B5EF4-FFF2-40B4-BE49-F238E27FC236}">
                <a16:creationId xmlns:a16="http://schemas.microsoft.com/office/drawing/2014/main" id="{4015F0B7-A5CC-4CA6-A9FB-A44CB4BC4A55}"/>
              </a:ext>
            </a:extLst>
          </p:cNvPr>
          <p:cNvSpPr txBox="1"/>
          <p:nvPr/>
        </p:nvSpPr>
        <p:spPr>
          <a:xfrm>
            <a:off x="1152123" y="2047741"/>
            <a:ext cx="9887754" cy="3441327"/>
          </a:xfrm>
          <a:prstGeom prst="rect">
            <a:avLst/>
          </a:prstGeom>
          <a:noFill/>
        </p:spPr>
        <p:txBody>
          <a:bodyPr wrap="square">
            <a:spAutoFit/>
          </a:bodyPr>
          <a:lstStyle/>
          <a:p>
            <a:pPr>
              <a:lnSpc>
                <a:spcPct val="250000"/>
              </a:lnSpc>
            </a:pPr>
            <a:r>
              <a:rPr lang="en-US" b="0" i="0" u="none" strike="noStrike" dirty="0">
                <a:solidFill>
                  <a:srgbClr val="007EB9"/>
                </a:solidFill>
                <a:effectLst/>
                <a:latin typeface="AmazonEmberLight"/>
                <a:hlinkClick r:id="rId2"/>
              </a:rPr>
              <a:t>PostgreSQL</a:t>
            </a:r>
            <a:r>
              <a:rPr lang="en-US" b="0" i="0" dirty="0">
                <a:solidFill>
                  <a:srgbClr val="232F3E"/>
                </a:solidFill>
                <a:effectLst/>
                <a:latin typeface="AmazonEmberLight"/>
              </a:rPr>
              <a:t> is an advanced, enterprise class </a:t>
            </a:r>
            <a:r>
              <a:rPr lang="en-US" b="0" i="0" u="none" strike="noStrike" dirty="0">
                <a:solidFill>
                  <a:srgbClr val="007EB9"/>
                </a:solidFill>
                <a:effectLst/>
                <a:latin typeface="AmazonEmberLight"/>
                <a:hlinkClick r:id="rId3"/>
              </a:rPr>
              <a:t>open source</a:t>
            </a:r>
            <a:r>
              <a:rPr lang="en-US" b="0" i="0" dirty="0">
                <a:solidFill>
                  <a:srgbClr val="232F3E"/>
                </a:solidFill>
                <a:effectLst/>
                <a:latin typeface="AmazonEmberLight"/>
              </a:rPr>
              <a:t> relational database that supports both SQL (relational) and JSON (non-relational) querying. It is a highly stable database management system, backed by more than 20 years of community development which has contributed to its high levels of resilience, integrity, and correctness. PostgreSQL is used as the primary data store or data warehouse for many web, mobile, geospatial, and analytics applications. The latest major version is </a:t>
            </a:r>
            <a:r>
              <a:rPr lang="en-US" b="0" i="0" u="none" strike="noStrike" dirty="0">
                <a:solidFill>
                  <a:srgbClr val="007EB9"/>
                </a:solidFill>
                <a:effectLst/>
                <a:latin typeface="AmazonEmberLight"/>
                <a:hlinkClick r:id="rId4"/>
              </a:rPr>
              <a:t>PostgreSQL 12</a:t>
            </a:r>
            <a:r>
              <a:rPr lang="en-US" b="0" i="0" dirty="0">
                <a:solidFill>
                  <a:srgbClr val="232F3E"/>
                </a:solidFill>
                <a:effectLst/>
                <a:latin typeface="AmazonEmberLight"/>
              </a:rPr>
              <a:t>.</a:t>
            </a:r>
            <a:endParaRPr lang="fr-FR" dirty="0">
              <a:solidFill>
                <a:schemeClr val="bg1"/>
              </a:solidFill>
              <a:latin typeface="+mj-lt"/>
            </a:endParaRPr>
          </a:p>
        </p:txBody>
      </p:sp>
    </p:spTree>
    <p:extLst>
      <p:ext uri="{BB962C8B-B14F-4D97-AF65-F5344CB8AC3E}">
        <p14:creationId xmlns:p14="http://schemas.microsoft.com/office/powerpoint/2010/main" val="2417301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60DEBC11-3010-4C2A-A2CC-582A0CD9B872}"/>
              </a:ext>
            </a:extLst>
          </p:cNvPr>
          <p:cNvSpPr>
            <a:spLocks noGrp="1"/>
          </p:cNvSpPr>
          <p:nvPr>
            <p:ph type="subTitle" idx="1"/>
          </p:nvPr>
        </p:nvSpPr>
        <p:spPr>
          <a:xfrm>
            <a:off x="-1232863" y="411609"/>
            <a:ext cx="6801612" cy="1239894"/>
          </a:xfrm>
        </p:spPr>
        <p:txBody>
          <a:bodyPr/>
          <a:lstStyle/>
          <a:p>
            <a:r>
              <a:rPr lang="fr-FR" dirty="0" err="1">
                <a:solidFill>
                  <a:schemeClr val="accent1">
                    <a:lumMod val="50000"/>
                  </a:schemeClr>
                </a:solidFill>
              </a:rPr>
              <a:t>Advantages</a:t>
            </a:r>
            <a:r>
              <a:rPr lang="fr-FR" dirty="0">
                <a:solidFill>
                  <a:schemeClr val="accent1">
                    <a:lumMod val="50000"/>
                  </a:schemeClr>
                </a:solidFill>
              </a:rPr>
              <a:t> of </a:t>
            </a:r>
            <a:r>
              <a:rPr lang="fr-FR" dirty="0" err="1">
                <a:solidFill>
                  <a:schemeClr val="accent1">
                    <a:lumMod val="50000"/>
                  </a:schemeClr>
                </a:solidFill>
              </a:rPr>
              <a:t>using</a:t>
            </a:r>
            <a:r>
              <a:rPr lang="fr-FR" dirty="0">
                <a:solidFill>
                  <a:schemeClr val="accent1">
                    <a:lumMod val="50000"/>
                  </a:schemeClr>
                </a:solidFill>
              </a:rPr>
              <a:t> PostgreSQL ?</a:t>
            </a:r>
          </a:p>
          <a:p>
            <a:endParaRPr lang="fr-FR" dirty="0">
              <a:solidFill>
                <a:schemeClr val="accent1">
                  <a:lumMod val="50000"/>
                </a:schemeClr>
              </a:solidFill>
            </a:endParaRPr>
          </a:p>
        </p:txBody>
      </p:sp>
      <p:sp>
        <p:nvSpPr>
          <p:cNvPr id="7" name="ZoneTexte 6">
            <a:extLst>
              <a:ext uri="{FF2B5EF4-FFF2-40B4-BE49-F238E27FC236}">
                <a16:creationId xmlns:a16="http://schemas.microsoft.com/office/drawing/2014/main" id="{4015F0B7-A5CC-4CA6-A9FB-A44CB4BC4A55}"/>
              </a:ext>
            </a:extLst>
          </p:cNvPr>
          <p:cNvSpPr txBox="1"/>
          <p:nvPr/>
        </p:nvSpPr>
        <p:spPr>
          <a:xfrm>
            <a:off x="1023335" y="1263375"/>
            <a:ext cx="9887754" cy="6324808"/>
          </a:xfrm>
          <a:prstGeom prst="rect">
            <a:avLst/>
          </a:prstGeom>
          <a:noFill/>
        </p:spPr>
        <p:txBody>
          <a:bodyPr wrap="square">
            <a:spAutoFit/>
          </a:bodyPr>
          <a:lstStyle/>
          <a:p>
            <a:pPr algn="l">
              <a:lnSpc>
                <a:spcPct val="150000"/>
              </a:lnSpc>
            </a:pPr>
            <a:r>
              <a:rPr lang="fr-FR" i="0" dirty="0">
                <a:solidFill>
                  <a:schemeClr val="bg1"/>
                </a:solidFill>
                <a:effectLst/>
                <a:latin typeface="+mj-lt"/>
                <a:cs typeface="Andalus" panose="02020603050405020304" pitchFamily="18" charset="-78"/>
              </a:rPr>
              <a:t>Rich </a:t>
            </a:r>
            <a:r>
              <a:rPr lang="fr-FR" i="0" dirty="0" err="1">
                <a:solidFill>
                  <a:schemeClr val="bg1"/>
                </a:solidFill>
                <a:effectLst/>
                <a:latin typeface="+mj-lt"/>
                <a:cs typeface="Andalus" panose="02020603050405020304" pitchFamily="18" charset="-78"/>
              </a:rPr>
              <a:t>features</a:t>
            </a:r>
            <a:r>
              <a:rPr lang="fr-FR" i="0" dirty="0">
                <a:solidFill>
                  <a:schemeClr val="bg1"/>
                </a:solidFill>
                <a:effectLst/>
                <a:latin typeface="+mj-lt"/>
                <a:cs typeface="Andalus" panose="02020603050405020304" pitchFamily="18" charset="-78"/>
              </a:rPr>
              <a:t> and extensions</a:t>
            </a:r>
          </a:p>
          <a:p>
            <a:pPr>
              <a:lnSpc>
                <a:spcPct val="150000"/>
              </a:lnSpc>
            </a:pPr>
            <a:r>
              <a:rPr lang="fr-FR" i="0" dirty="0" err="1">
                <a:solidFill>
                  <a:schemeClr val="bg1"/>
                </a:solidFill>
                <a:effectLst/>
                <a:latin typeface="+mj-lt"/>
                <a:cs typeface="Andalus" panose="02020603050405020304" pitchFamily="18" charset="-78"/>
              </a:rPr>
              <a:t>Reliability</a:t>
            </a:r>
            <a:r>
              <a:rPr lang="fr-FR" i="0" dirty="0">
                <a:solidFill>
                  <a:schemeClr val="bg1"/>
                </a:solidFill>
                <a:effectLst/>
                <a:latin typeface="+mj-lt"/>
                <a:cs typeface="Andalus" panose="02020603050405020304" pitchFamily="18" charset="-78"/>
              </a:rPr>
              <a:t> and standards </a:t>
            </a:r>
            <a:r>
              <a:rPr lang="fr-FR" i="0" dirty="0" err="1">
                <a:solidFill>
                  <a:schemeClr val="bg1"/>
                </a:solidFill>
                <a:effectLst/>
                <a:latin typeface="+mj-lt"/>
                <a:cs typeface="Andalus" panose="02020603050405020304" pitchFamily="18" charset="-78"/>
              </a:rPr>
              <a:t>compliance</a:t>
            </a:r>
            <a:r>
              <a:rPr lang="fr-FR" dirty="0" err="1">
                <a:solidFill>
                  <a:schemeClr val="bg1"/>
                </a:solidFill>
                <a:latin typeface="+mj-lt"/>
                <a:cs typeface="Andalus" panose="02020603050405020304" pitchFamily="18" charset="-78"/>
              </a:rPr>
              <a:t>,</a:t>
            </a:r>
            <a:r>
              <a:rPr lang="fr-FR" i="0" dirty="0" err="1">
                <a:solidFill>
                  <a:schemeClr val="bg1"/>
                </a:solidFill>
                <a:effectLst/>
                <a:latin typeface="+mj-lt"/>
                <a:cs typeface="Andalus" panose="02020603050405020304" pitchFamily="18" charset="-78"/>
              </a:rPr>
              <a:t>Open</a:t>
            </a:r>
            <a:r>
              <a:rPr lang="fr-FR" i="0" dirty="0">
                <a:solidFill>
                  <a:schemeClr val="bg1"/>
                </a:solidFill>
                <a:effectLst/>
                <a:latin typeface="+mj-lt"/>
                <a:cs typeface="Andalus" panose="02020603050405020304" pitchFamily="18" charset="-78"/>
              </a:rPr>
              <a:t> source </a:t>
            </a:r>
            <a:r>
              <a:rPr lang="fr-FR" i="0" dirty="0" err="1">
                <a:solidFill>
                  <a:schemeClr val="bg1"/>
                </a:solidFill>
                <a:effectLst/>
                <a:latin typeface="+mj-lt"/>
                <a:cs typeface="Andalus" panose="02020603050405020304" pitchFamily="18" charset="-78"/>
              </a:rPr>
              <a:t>license</a:t>
            </a:r>
            <a:r>
              <a:rPr lang="fr-FR" dirty="0">
                <a:solidFill>
                  <a:schemeClr val="bg1"/>
                </a:solidFill>
                <a:latin typeface="+mj-lt"/>
                <a:cs typeface="Andalus" panose="02020603050405020304" pitchFamily="18" charset="-78"/>
              </a:rPr>
              <a:t>,</a:t>
            </a:r>
            <a:r>
              <a:rPr lang="en-US" dirty="0">
                <a:solidFill>
                  <a:schemeClr val="bg1"/>
                </a:solidFill>
                <a:latin typeface="+mj-lt"/>
                <a:ea typeface="+mn-lt"/>
                <a:cs typeface="Andalus" panose="02020603050405020304" pitchFamily="18" charset="-78"/>
              </a:rPr>
              <a:t>Powerful features</a:t>
            </a:r>
            <a:endParaRPr lang="en-US" dirty="0">
              <a:solidFill>
                <a:schemeClr val="bg1"/>
              </a:solidFill>
              <a:latin typeface="+mj-lt"/>
              <a:cs typeface="Andalus" panose="02020603050405020304" pitchFamily="18" charset="-78"/>
            </a:endParaRPr>
          </a:p>
          <a:p>
            <a:pPr marL="344170" indent="-344170">
              <a:lnSpc>
                <a:spcPct val="150000"/>
              </a:lnSpc>
            </a:pPr>
            <a:r>
              <a:rPr lang="en-US" dirty="0">
                <a:solidFill>
                  <a:schemeClr val="bg1"/>
                </a:solidFill>
                <a:latin typeface="+mj-lt"/>
                <a:ea typeface="+mn-lt"/>
                <a:cs typeface="Andalus" panose="02020603050405020304" pitchFamily="18" charset="-78"/>
              </a:rPr>
              <a:t>The ease of handling transactions</a:t>
            </a:r>
            <a:endParaRPr lang="en-US" dirty="0">
              <a:solidFill>
                <a:schemeClr val="bg1"/>
              </a:solidFill>
              <a:latin typeface="+mj-lt"/>
              <a:cs typeface="Andalus" panose="02020603050405020304" pitchFamily="18" charset="-78"/>
            </a:endParaRPr>
          </a:p>
          <a:p>
            <a:pPr marL="344170" indent="-344170">
              <a:lnSpc>
                <a:spcPct val="150000"/>
              </a:lnSpc>
            </a:pPr>
            <a:r>
              <a:rPr lang="en-US" dirty="0">
                <a:solidFill>
                  <a:schemeClr val="bg1"/>
                </a:solidFill>
                <a:latin typeface="+mj-lt"/>
                <a:ea typeface="+mn-lt"/>
                <a:cs typeface="Andalus" panose="02020603050405020304" pitchFamily="18" charset="-78"/>
              </a:rPr>
              <a:t>“Code comments”</a:t>
            </a:r>
            <a:endParaRPr lang="en-US" dirty="0">
              <a:solidFill>
                <a:schemeClr val="bg1"/>
              </a:solidFill>
              <a:latin typeface="+mj-lt"/>
              <a:cs typeface="Andalus" panose="02020603050405020304" pitchFamily="18" charset="-78"/>
            </a:endParaRPr>
          </a:p>
          <a:p>
            <a:pPr marL="344170" indent="-344170">
              <a:lnSpc>
                <a:spcPct val="150000"/>
              </a:lnSpc>
            </a:pPr>
            <a:r>
              <a:rPr lang="en-US" dirty="0">
                <a:solidFill>
                  <a:schemeClr val="bg1"/>
                </a:solidFill>
                <a:latin typeface="+mj-lt"/>
                <a:ea typeface="+mn-lt"/>
                <a:cs typeface="Andalus" panose="02020603050405020304" pitchFamily="18" charset="-78"/>
              </a:rPr>
              <a:t>Parameters</a:t>
            </a:r>
            <a:endParaRPr lang="en-US" dirty="0">
              <a:solidFill>
                <a:schemeClr val="bg1"/>
              </a:solidFill>
              <a:latin typeface="+mj-lt"/>
              <a:cs typeface="Andalus" panose="02020603050405020304" pitchFamily="18" charset="-78"/>
            </a:endParaRPr>
          </a:p>
          <a:p>
            <a:pPr marL="344170" indent="-344170">
              <a:lnSpc>
                <a:spcPct val="150000"/>
              </a:lnSpc>
            </a:pPr>
            <a:r>
              <a:rPr lang="en-US" dirty="0">
                <a:solidFill>
                  <a:schemeClr val="bg1"/>
                </a:solidFill>
                <a:latin typeface="+mj-lt"/>
                <a:ea typeface="+mn-lt"/>
                <a:cs typeface="Andalus" panose="02020603050405020304" pitchFamily="18" charset="-78"/>
              </a:rPr>
              <a:t>Extensibility</a:t>
            </a:r>
            <a:endParaRPr lang="en-US" dirty="0">
              <a:solidFill>
                <a:schemeClr val="bg1"/>
              </a:solidFill>
              <a:latin typeface="+mj-lt"/>
              <a:cs typeface="Andalus" panose="02020603050405020304" pitchFamily="18" charset="-78"/>
            </a:endParaRPr>
          </a:p>
          <a:p>
            <a:pPr marL="344170" indent="-344170">
              <a:lnSpc>
                <a:spcPct val="150000"/>
              </a:lnSpc>
            </a:pPr>
            <a:r>
              <a:rPr lang="en-US" dirty="0">
                <a:solidFill>
                  <a:schemeClr val="bg1"/>
                </a:solidFill>
                <a:latin typeface="+mj-lt"/>
                <a:ea typeface="+mn-lt"/>
                <a:cs typeface="Andalus" panose="02020603050405020304" pitchFamily="18" charset="-78"/>
              </a:rPr>
              <a:t>Security</a:t>
            </a:r>
            <a:endParaRPr lang="en-US" dirty="0">
              <a:solidFill>
                <a:schemeClr val="bg1"/>
              </a:solidFill>
              <a:latin typeface="+mj-lt"/>
              <a:cs typeface="Andalus" panose="02020603050405020304" pitchFamily="18" charset="-78"/>
            </a:endParaRPr>
          </a:p>
          <a:p>
            <a:pPr marL="344170" indent="-344170">
              <a:lnSpc>
                <a:spcPct val="150000"/>
              </a:lnSpc>
            </a:pPr>
            <a:r>
              <a:rPr lang="en-US" dirty="0">
                <a:solidFill>
                  <a:schemeClr val="bg1"/>
                </a:solidFill>
                <a:latin typeface="+mj-lt"/>
                <a:ea typeface="+mn-lt"/>
                <a:cs typeface="Andalus" panose="02020603050405020304" pitchFamily="18" charset="-78"/>
              </a:rPr>
              <a:t>“Rich” SQL</a:t>
            </a:r>
            <a:endParaRPr lang="en-US" dirty="0">
              <a:solidFill>
                <a:schemeClr val="bg1"/>
              </a:solidFill>
              <a:latin typeface="+mj-lt"/>
              <a:cs typeface="Andalus" panose="02020603050405020304" pitchFamily="18" charset="-78"/>
            </a:endParaRPr>
          </a:p>
          <a:p>
            <a:pPr marL="344170" indent="-344170">
              <a:lnSpc>
                <a:spcPct val="150000"/>
              </a:lnSpc>
            </a:pPr>
            <a:r>
              <a:rPr lang="en-US" dirty="0">
                <a:solidFill>
                  <a:schemeClr val="bg1"/>
                </a:solidFill>
                <a:latin typeface="+mj-lt"/>
                <a:ea typeface="+mn-lt"/>
                <a:cs typeface="Andalus" panose="02020603050405020304" pitchFamily="18" charset="-78"/>
              </a:rPr>
              <a:t>Flexibility</a:t>
            </a:r>
            <a:endParaRPr lang="en-US" dirty="0">
              <a:solidFill>
                <a:schemeClr val="bg1"/>
              </a:solidFill>
              <a:latin typeface="+mj-lt"/>
              <a:cs typeface="Andalus" panose="02020603050405020304" pitchFamily="18" charset="-78"/>
            </a:endParaRPr>
          </a:p>
          <a:p>
            <a:pPr marL="344170" indent="-344170">
              <a:lnSpc>
                <a:spcPct val="150000"/>
              </a:lnSpc>
            </a:pPr>
            <a:r>
              <a:rPr lang="en-US" dirty="0">
                <a:solidFill>
                  <a:schemeClr val="bg1"/>
                </a:solidFill>
                <a:latin typeface="+mj-lt"/>
                <a:ea typeface="+mn-lt"/>
                <a:cs typeface="Andalus" panose="02020603050405020304" pitchFamily="18" charset="-78"/>
              </a:rPr>
              <a:t>Performance</a:t>
            </a:r>
            <a:endParaRPr lang="en-US" dirty="0">
              <a:solidFill>
                <a:schemeClr val="bg1"/>
              </a:solidFill>
              <a:latin typeface="+mj-lt"/>
              <a:cs typeface="Andalus" panose="02020603050405020304" pitchFamily="18" charset="-78"/>
            </a:endParaRPr>
          </a:p>
          <a:p>
            <a:pPr marL="344170" indent="-344170">
              <a:lnSpc>
                <a:spcPct val="150000"/>
              </a:lnSpc>
            </a:pPr>
            <a:r>
              <a:rPr lang="en-US" dirty="0">
                <a:solidFill>
                  <a:schemeClr val="bg1"/>
                </a:solidFill>
                <a:latin typeface="+mj-lt"/>
                <a:ea typeface="+mn-lt"/>
                <a:cs typeface="Andalus" panose="02020603050405020304" pitchFamily="18" charset="-78"/>
              </a:rPr>
              <a:t>Popularity</a:t>
            </a:r>
            <a:endParaRPr lang="en-US" dirty="0">
              <a:solidFill>
                <a:schemeClr val="bg1"/>
              </a:solidFill>
              <a:latin typeface="+mj-lt"/>
              <a:cs typeface="Andalus" panose="02020603050405020304" pitchFamily="18" charset="-78"/>
            </a:endParaRPr>
          </a:p>
          <a:p>
            <a:pPr marL="344170" indent="-344170">
              <a:lnSpc>
                <a:spcPct val="150000"/>
              </a:lnSpc>
            </a:pPr>
            <a:r>
              <a:rPr lang="en-US" dirty="0">
                <a:solidFill>
                  <a:schemeClr val="bg1"/>
                </a:solidFill>
                <a:latin typeface="+mj-lt"/>
                <a:ea typeface="+mn-lt"/>
                <a:cs typeface="Andalus" panose="02020603050405020304" pitchFamily="18" charset="-78"/>
              </a:rPr>
              <a:t>Support</a:t>
            </a:r>
            <a:endParaRPr lang="en-US" dirty="0">
              <a:solidFill>
                <a:schemeClr val="bg1"/>
              </a:solidFill>
              <a:latin typeface="+mj-lt"/>
              <a:cs typeface="Andalus" panose="02020603050405020304" pitchFamily="18" charset="-78"/>
            </a:endParaRPr>
          </a:p>
          <a:p>
            <a:pPr algn="l">
              <a:lnSpc>
                <a:spcPct val="250000"/>
              </a:lnSpc>
            </a:pPr>
            <a:endParaRPr lang="fr-FR" b="0" i="0" dirty="0">
              <a:solidFill>
                <a:schemeClr val="bg1"/>
              </a:solidFill>
              <a:effectLst/>
              <a:latin typeface="+mj-lt"/>
            </a:endParaRPr>
          </a:p>
          <a:p>
            <a:br>
              <a:rPr lang="fr-FR" dirty="0">
                <a:solidFill>
                  <a:schemeClr val="bg1"/>
                </a:solidFill>
                <a:latin typeface="+mj-lt"/>
              </a:rPr>
            </a:br>
            <a:endParaRPr lang="fr-FR" b="0" i="0" dirty="0">
              <a:solidFill>
                <a:schemeClr val="bg1"/>
              </a:solidFill>
              <a:effectLst/>
              <a:latin typeface="+mj-lt"/>
            </a:endParaRPr>
          </a:p>
        </p:txBody>
      </p:sp>
      <p:pic>
        <p:nvPicPr>
          <p:cNvPr id="4" name="Image 3">
            <a:extLst>
              <a:ext uri="{FF2B5EF4-FFF2-40B4-BE49-F238E27FC236}">
                <a16:creationId xmlns:a16="http://schemas.microsoft.com/office/drawing/2014/main" id="{1D08D497-9DB2-46B7-B1B9-2A5782F43451}"/>
              </a:ext>
            </a:extLst>
          </p:cNvPr>
          <p:cNvPicPr>
            <a:picLocks noChangeAspect="1"/>
          </p:cNvPicPr>
          <p:nvPr/>
        </p:nvPicPr>
        <p:blipFill>
          <a:blip r:embed="rId2"/>
          <a:stretch>
            <a:fillRect/>
          </a:stretch>
        </p:blipFill>
        <p:spPr>
          <a:xfrm>
            <a:off x="4365938" y="4478235"/>
            <a:ext cx="7472608" cy="2232779"/>
          </a:xfrm>
          <a:prstGeom prst="rect">
            <a:avLst/>
          </a:prstGeom>
        </p:spPr>
      </p:pic>
    </p:spTree>
    <p:extLst>
      <p:ext uri="{BB962C8B-B14F-4D97-AF65-F5344CB8AC3E}">
        <p14:creationId xmlns:p14="http://schemas.microsoft.com/office/powerpoint/2010/main" val="1509353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60DEBC11-3010-4C2A-A2CC-582A0CD9B872}"/>
              </a:ext>
            </a:extLst>
          </p:cNvPr>
          <p:cNvSpPr>
            <a:spLocks noGrp="1"/>
          </p:cNvSpPr>
          <p:nvPr>
            <p:ph type="subTitle" idx="1"/>
          </p:nvPr>
        </p:nvSpPr>
        <p:spPr>
          <a:xfrm>
            <a:off x="-1232863" y="411609"/>
            <a:ext cx="6801612" cy="1239894"/>
          </a:xfrm>
        </p:spPr>
        <p:txBody>
          <a:bodyPr/>
          <a:lstStyle/>
          <a:p>
            <a:r>
              <a:rPr lang="fr-FR" dirty="0" err="1">
                <a:solidFill>
                  <a:schemeClr val="accent1">
                    <a:lumMod val="50000"/>
                  </a:schemeClr>
                </a:solidFill>
              </a:rPr>
              <a:t>Disadvantages</a:t>
            </a:r>
            <a:r>
              <a:rPr lang="fr-FR" dirty="0">
                <a:solidFill>
                  <a:schemeClr val="accent1">
                    <a:lumMod val="50000"/>
                  </a:schemeClr>
                </a:solidFill>
              </a:rPr>
              <a:t> of </a:t>
            </a:r>
            <a:r>
              <a:rPr lang="fr-FR" dirty="0" err="1">
                <a:solidFill>
                  <a:schemeClr val="accent1">
                    <a:lumMod val="50000"/>
                  </a:schemeClr>
                </a:solidFill>
              </a:rPr>
              <a:t>using</a:t>
            </a:r>
            <a:r>
              <a:rPr lang="fr-FR" dirty="0">
                <a:solidFill>
                  <a:schemeClr val="accent1">
                    <a:lumMod val="50000"/>
                  </a:schemeClr>
                </a:solidFill>
              </a:rPr>
              <a:t> PostgreSQL ?</a:t>
            </a:r>
          </a:p>
          <a:p>
            <a:endParaRPr lang="fr-FR" dirty="0">
              <a:solidFill>
                <a:schemeClr val="accent1">
                  <a:lumMod val="50000"/>
                </a:schemeClr>
              </a:solidFill>
            </a:endParaRPr>
          </a:p>
        </p:txBody>
      </p:sp>
      <p:sp>
        <p:nvSpPr>
          <p:cNvPr id="7" name="ZoneTexte 6">
            <a:extLst>
              <a:ext uri="{FF2B5EF4-FFF2-40B4-BE49-F238E27FC236}">
                <a16:creationId xmlns:a16="http://schemas.microsoft.com/office/drawing/2014/main" id="{4015F0B7-A5CC-4CA6-A9FB-A44CB4BC4A55}"/>
              </a:ext>
            </a:extLst>
          </p:cNvPr>
          <p:cNvSpPr txBox="1"/>
          <p:nvPr/>
        </p:nvSpPr>
        <p:spPr>
          <a:xfrm>
            <a:off x="817274" y="1508075"/>
            <a:ext cx="9887754" cy="2680862"/>
          </a:xfrm>
          <a:prstGeom prst="rect">
            <a:avLst/>
          </a:prstGeom>
          <a:noFill/>
        </p:spPr>
        <p:txBody>
          <a:bodyPr wrap="square">
            <a:spAutoFit/>
          </a:bodyPr>
          <a:lstStyle/>
          <a:p>
            <a:pPr marL="344170" indent="-344170">
              <a:lnSpc>
                <a:spcPct val="200000"/>
              </a:lnSpc>
            </a:pPr>
            <a:r>
              <a:rPr lang="en-US" dirty="0">
                <a:solidFill>
                  <a:schemeClr val="bg1"/>
                </a:solidFill>
                <a:ea typeface="+mn-lt"/>
                <a:cs typeface="+mn-lt"/>
              </a:rPr>
              <a:t>The lack of data compression</a:t>
            </a:r>
            <a:endParaRPr lang="en-US" dirty="0">
              <a:solidFill>
                <a:schemeClr val="bg1"/>
              </a:solidFill>
              <a:cs typeface="Arial"/>
            </a:endParaRPr>
          </a:p>
          <a:p>
            <a:pPr marL="344170" indent="-344170">
              <a:lnSpc>
                <a:spcPct val="200000"/>
              </a:lnSpc>
            </a:pPr>
            <a:r>
              <a:rPr lang="en-US" dirty="0">
                <a:solidFill>
                  <a:schemeClr val="bg1"/>
                </a:solidFill>
                <a:ea typeface="+mn-lt"/>
                <a:cs typeface="+mn-lt"/>
              </a:rPr>
              <a:t>Analytics-related limitations</a:t>
            </a:r>
            <a:endParaRPr lang="en-US" dirty="0">
              <a:solidFill>
                <a:schemeClr val="bg1"/>
              </a:solidFill>
              <a:cs typeface="Arial"/>
            </a:endParaRPr>
          </a:p>
          <a:p>
            <a:pPr marL="344170" indent="-344170">
              <a:lnSpc>
                <a:spcPct val="200000"/>
              </a:lnSpc>
            </a:pPr>
            <a:r>
              <a:rPr lang="en-US" dirty="0">
                <a:solidFill>
                  <a:schemeClr val="bg1"/>
                </a:solidFill>
                <a:ea typeface="+mn-lt"/>
                <a:cs typeface="+mn-lt"/>
              </a:rPr>
              <a:t>Performance-related limitations</a:t>
            </a:r>
            <a:endParaRPr lang="en-US" dirty="0">
              <a:solidFill>
                <a:schemeClr val="bg1"/>
              </a:solidFill>
              <a:cs typeface="Arial"/>
            </a:endParaRPr>
          </a:p>
          <a:p>
            <a:pPr marL="344170" indent="-344170">
              <a:lnSpc>
                <a:spcPct val="200000"/>
              </a:lnSpc>
            </a:pPr>
            <a:r>
              <a:rPr lang="en-US" dirty="0">
                <a:solidFill>
                  <a:schemeClr val="bg1"/>
                </a:solidFill>
                <a:ea typeface="+mn-lt"/>
                <a:cs typeface="+mn-lt"/>
              </a:rPr>
              <a:t>Administration-related challenges</a:t>
            </a:r>
            <a:endParaRPr lang="en-US" dirty="0">
              <a:solidFill>
                <a:schemeClr val="bg1"/>
              </a:solidFill>
              <a:cs typeface="Arial"/>
            </a:endParaRPr>
          </a:p>
          <a:p>
            <a:pPr algn="l">
              <a:lnSpc>
                <a:spcPct val="150000"/>
              </a:lnSpc>
            </a:pPr>
            <a:endParaRPr lang="fr-FR" b="0" i="0" dirty="0">
              <a:solidFill>
                <a:schemeClr val="bg1"/>
              </a:solidFill>
              <a:effectLst/>
              <a:latin typeface="AmazonEmberBold"/>
            </a:endParaRPr>
          </a:p>
        </p:txBody>
      </p:sp>
    </p:spTree>
    <p:extLst>
      <p:ext uri="{BB962C8B-B14F-4D97-AF65-F5344CB8AC3E}">
        <p14:creationId xmlns:p14="http://schemas.microsoft.com/office/powerpoint/2010/main" val="408989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60DEBC11-3010-4C2A-A2CC-582A0CD9B872}"/>
              </a:ext>
            </a:extLst>
          </p:cNvPr>
          <p:cNvSpPr>
            <a:spLocks noGrp="1"/>
          </p:cNvSpPr>
          <p:nvPr>
            <p:ph type="subTitle" idx="1"/>
          </p:nvPr>
        </p:nvSpPr>
        <p:spPr>
          <a:xfrm>
            <a:off x="0" y="450246"/>
            <a:ext cx="6801612" cy="1239894"/>
          </a:xfrm>
        </p:spPr>
        <p:txBody>
          <a:bodyPr/>
          <a:lstStyle/>
          <a:p>
            <a:r>
              <a:rPr lang="fr-FR" dirty="0">
                <a:solidFill>
                  <a:schemeClr val="accent5">
                    <a:lumMod val="75000"/>
                  </a:schemeClr>
                </a:solidFill>
              </a:rPr>
              <a:t>SQ</a:t>
            </a:r>
            <a:r>
              <a:rPr lang="fr-FR" b="1" i="0" dirty="0">
                <a:solidFill>
                  <a:schemeClr val="accent5">
                    <a:lumMod val="75000"/>
                  </a:schemeClr>
                </a:solidFill>
                <a:effectLst/>
                <a:latin typeface="Epilogue"/>
              </a:rPr>
              <a:t>Lite vs MySQL vs PostgreSQL: A </a:t>
            </a:r>
            <a:r>
              <a:rPr lang="fr-FR" b="1" i="0" dirty="0" err="1">
                <a:solidFill>
                  <a:schemeClr val="accent5">
                    <a:lumMod val="75000"/>
                  </a:schemeClr>
                </a:solidFill>
                <a:effectLst/>
                <a:latin typeface="Epilogue"/>
              </a:rPr>
              <a:t>Comparison</a:t>
            </a:r>
            <a:r>
              <a:rPr lang="fr-FR" b="1" i="0" dirty="0">
                <a:solidFill>
                  <a:schemeClr val="accent5">
                    <a:lumMod val="75000"/>
                  </a:schemeClr>
                </a:solidFill>
                <a:effectLst/>
                <a:latin typeface="Epilogue"/>
              </a:rPr>
              <a:t> Of </a:t>
            </a:r>
            <a:r>
              <a:rPr lang="fr-FR" b="1" i="0" dirty="0" err="1">
                <a:solidFill>
                  <a:schemeClr val="accent5">
                    <a:lumMod val="75000"/>
                  </a:schemeClr>
                </a:solidFill>
                <a:effectLst/>
                <a:latin typeface="Epilogue"/>
              </a:rPr>
              <a:t>Relational</a:t>
            </a:r>
            <a:r>
              <a:rPr lang="fr-FR" b="1" i="0" dirty="0">
                <a:solidFill>
                  <a:schemeClr val="accent5">
                    <a:lumMod val="75000"/>
                  </a:schemeClr>
                </a:solidFill>
                <a:effectLst/>
                <a:latin typeface="Epilogue"/>
              </a:rPr>
              <a:t> </a:t>
            </a:r>
            <a:r>
              <a:rPr lang="fr-FR" b="1" i="0" dirty="0" err="1">
                <a:solidFill>
                  <a:schemeClr val="accent5">
                    <a:lumMod val="75000"/>
                  </a:schemeClr>
                </a:solidFill>
                <a:effectLst/>
                <a:latin typeface="Epilogue"/>
              </a:rPr>
              <a:t>Database</a:t>
            </a:r>
            <a:r>
              <a:rPr lang="fr-FR" b="1" i="0" dirty="0">
                <a:solidFill>
                  <a:schemeClr val="accent5">
                    <a:lumMod val="75000"/>
                  </a:schemeClr>
                </a:solidFill>
                <a:effectLst/>
                <a:latin typeface="Epilogue"/>
              </a:rPr>
              <a:t> Management </a:t>
            </a:r>
            <a:r>
              <a:rPr lang="fr-FR" b="1" i="0" dirty="0" err="1">
                <a:solidFill>
                  <a:schemeClr val="accent5">
                    <a:lumMod val="75000"/>
                  </a:schemeClr>
                </a:solidFill>
                <a:effectLst/>
                <a:latin typeface="Epilogue"/>
              </a:rPr>
              <a:t>Syste</a:t>
            </a:r>
            <a:endParaRPr lang="fr-FR" b="1" i="0" dirty="0">
              <a:solidFill>
                <a:schemeClr val="accent5">
                  <a:lumMod val="75000"/>
                </a:schemeClr>
              </a:solidFill>
              <a:effectLst/>
              <a:latin typeface="Epilogue"/>
            </a:endParaRPr>
          </a:p>
          <a:p>
            <a:endParaRPr lang="fr-FR" dirty="0">
              <a:solidFill>
                <a:schemeClr val="accent1">
                  <a:lumMod val="50000"/>
                </a:schemeClr>
              </a:solidFill>
            </a:endParaRPr>
          </a:p>
          <a:p>
            <a:endParaRPr lang="fr-FR" dirty="0">
              <a:solidFill>
                <a:schemeClr val="accent1">
                  <a:lumMod val="50000"/>
                </a:schemeClr>
              </a:solidFill>
            </a:endParaRPr>
          </a:p>
        </p:txBody>
      </p:sp>
      <p:pic>
        <p:nvPicPr>
          <p:cNvPr id="4" name="Image 3">
            <a:extLst>
              <a:ext uri="{FF2B5EF4-FFF2-40B4-BE49-F238E27FC236}">
                <a16:creationId xmlns:a16="http://schemas.microsoft.com/office/drawing/2014/main" id="{CD0356FF-D9BE-4163-961C-1A29C1CD900F}"/>
              </a:ext>
            </a:extLst>
          </p:cNvPr>
          <p:cNvPicPr>
            <a:picLocks noChangeAspect="1"/>
          </p:cNvPicPr>
          <p:nvPr/>
        </p:nvPicPr>
        <p:blipFill>
          <a:blip r:embed="rId2"/>
          <a:stretch>
            <a:fillRect/>
          </a:stretch>
        </p:blipFill>
        <p:spPr>
          <a:xfrm>
            <a:off x="4842171" y="4006150"/>
            <a:ext cx="6963747" cy="2657846"/>
          </a:xfrm>
          <a:prstGeom prst="rect">
            <a:avLst/>
          </a:prstGeom>
        </p:spPr>
      </p:pic>
      <p:sp>
        <p:nvSpPr>
          <p:cNvPr id="8" name="ZoneTexte 7">
            <a:extLst>
              <a:ext uri="{FF2B5EF4-FFF2-40B4-BE49-F238E27FC236}">
                <a16:creationId xmlns:a16="http://schemas.microsoft.com/office/drawing/2014/main" id="{1CFAB245-03A1-40DB-A28F-127906D226DB}"/>
              </a:ext>
            </a:extLst>
          </p:cNvPr>
          <p:cNvSpPr txBox="1"/>
          <p:nvPr/>
        </p:nvSpPr>
        <p:spPr>
          <a:xfrm>
            <a:off x="1027089" y="1690140"/>
            <a:ext cx="10688392" cy="1675459"/>
          </a:xfrm>
          <a:prstGeom prst="rect">
            <a:avLst/>
          </a:prstGeom>
          <a:noFill/>
        </p:spPr>
        <p:txBody>
          <a:bodyPr wrap="square">
            <a:spAutoFit/>
          </a:bodyPr>
          <a:lstStyle/>
          <a:p>
            <a:pPr>
              <a:lnSpc>
                <a:spcPct val="200000"/>
              </a:lnSpc>
            </a:pPr>
            <a:r>
              <a:rPr lang="en-US" b="0" i="0" dirty="0">
                <a:solidFill>
                  <a:schemeClr val="bg1"/>
                </a:solidFill>
                <a:effectLst/>
                <a:latin typeface="Mulish"/>
              </a:rPr>
              <a:t>In this </a:t>
            </a:r>
            <a:r>
              <a:rPr lang="en-US" dirty="0">
                <a:solidFill>
                  <a:schemeClr val="bg1"/>
                </a:solidFill>
                <a:latin typeface="Mulish"/>
              </a:rPr>
              <a:t>slide</a:t>
            </a:r>
            <a:r>
              <a:rPr lang="en-US" b="0" i="0" dirty="0">
                <a:solidFill>
                  <a:schemeClr val="bg1"/>
                </a:solidFill>
                <a:effectLst/>
                <a:latin typeface="Mulish"/>
              </a:rPr>
              <a:t>, we compare three of the</a:t>
            </a:r>
            <a:r>
              <a:rPr lang="en-US" b="0" i="0" u="none" strike="noStrike" dirty="0">
                <a:solidFill>
                  <a:schemeClr val="bg1"/>
                </a:solidFill>
                <a:effectLst/>
                <a:latin typeface="Mulish"/>
                <a:hlinkClick r:id="rId3">
                  <a:extLst>
                    <a:ext uri="{A12FA001-AC4F-418D-AE19-62706E023703}">
                      <ahyp:hlinkClr xmlns:ahyp="http://schemas.microsoft.com/office/drawing/2018/hyperlinkcolor" val="tx"/>
                    </a:ext>
                  </a:extLst>
                </a:hlinkClick>
              </a:rPr>
              <a:t> most popular</a:t>
            </a:r>
            <a:r>
              <a:rPr lang="en-US" b="0" i="0" dirty="0">
                <a:solidFill>
                  <a:schemeClr val="bg1"/>
                </a:solidFill>
                <a:effectLst/>
                <a:latin typeface="Mulish"/>
              </a:rPr>
              <a:t> open-source RDBMS on the market. The comparison delves into differences in architecture, business continuity, use cases, and support that help you make an informed decision while pursuing database systems for your application.</a:t>
            </a:r>
            <a:endParaRPr lang="fr-FR" dirty="0">
              <a:solidFill>
                <a:schemeClr val="bg1"/>
              </a:solidFill>
            </a:endParaRPr>
          </a:p>
        </p:txBody>
      </p:sp>
    </p:spTree>
    <p:extLst>
      <p:ext uri="{BB962C8B-B14F-4D97-AF65-F5344CB8AC3E}">
        <p14:creationId xmlns:p14="http://schemas.microsoft.com/office/powerpoint/2010/main" val="2370949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60DEBC11-3010-4C2A-A2CC-582A0CD9B872}"/>
              </a:ext>
            </a:extLst>
          </p:cNvPr>
          <p:cNvSpPr>
            <a:spLocks noGrp="1"/>
          </p:cNvSpPr>
          <p:nvPr>
            <p:ph type="subTitle" idx="1"/>
          </p:nvPr>
        </p:nvSpPr>
        <p:spPr>
          <a:xfrm>
            <a:off x="0" y="450246"/>
            <a:ext cx="6801612" cy="1239894"/>
          </a:xfrm>
        </p:spPr>
        <p:txBody>
          <a:bodyPr/>
          <a:lstStyle/>
          <a:p>
            <a:r>
              <a:rPr lang="fr-FR" dirty="0">
                <a:solidFill>
                  <a:schemeClr val="accent5">
                    <a:lumMod val="75000"/>
                  </a:schemeClr>
                </a:solidFill>
              </a:rPr>
              <a:t>SQ</a:t>
            </a:r>
            <a:r>
              <a:rPr lang="fr-FR" b="1" i="0" dirty="0">
                <a:solidFill>
                  <a:schemeClr val="accent5">
                    <a:lumMod val="75000"/>
                  </a:schemeClr>
                </a:solidFill>
                <a:effectLst/>
                <a:latin typeface="Epilogue"/>
              </a:rPr>
              <a:t>Lite vs MySQL vs PostgreSQL: A </a:t>
            </a:r>
            <a:r>
              <a:rPr lang="fr-FR" b="1" i="0" dirty="0" err="1">
                <a:solidFill>
                  <a:schemeClr val="accent5">
                    <a:lumMod val="75000"/>
                  </a:schemeClr>
                </a:solidFill>
                <a:effectLst/>
                <a:latin typeface="Epilogue"/>
              </a:rPr>
              <a:t>Comparison</a:t>
            </a:r>
            <a:r>
              <a:rPr lang="fr-FR" b="1" i="0" dirty="0">
                <a:solidFill>
                  <a:schemeClr val="accent5">
                    <a:lumMod val="75000"/>
                  </a:schemeClr>
                </a:solidFill>
                <a:effectLst/>
                <a:latin typeface="Epilogue"/>
              </a:rPr>
              <a:t> Of </a:t>
            </a:r>
            <a:r>
              <a:rPr lang="fr-FR" b="1" i="0" dirty="0" err="1">
                <a:solidFill>
                  <a:schemeClr val="accent5">
                    <a:lumMod val="75000"/>
                  </a:schemeClr>
                </a:solidFill>
                <a:effectLst/>
                <a:latin typeface="Epilogue"/>
              </a:rPr>
              <a:t>Relational</a:t>
            </a:r>
            <a:r>
              <a:rPr lang="fr-FR" b="1" i="0" dirty="0">
                <a:solidFill>
                  <a:schemeClr val="accent5">
                    <a:lumMod val="75000"/>
                  </a:schemeClr>
                </a:solidFill>
                <a:effectLst/>
                <a:latin typeface="Epilogue"/>
              </a:rPr>
              <a:t> </a:t>
            </a:r>
            <a:r>
              <a:rPr lang="fr-FR" b="1" i="0" dirty="0" err="1">
                <a:solidFill>
                  <a:schemeClr val="accent5">
                    <a:lumMod val="75000"/>
                  </a:schemeClr>
                </a:solidFill>
                <a:effectLst/>
                <a:latin typeface="Epilogue"/>
              </a:rPr>
              <a:t>Database</a:t>
            </a:r>
            <a:r>
              <a:rPr lang="fr-FR" b="1" i="0" dirty="0">
                <a:solidFill>
                  <a:schemeClr val="accent5">
                    <a:lumMod val="75000"/>
                  </a:schemeClr>
                </a:solidFill>
                <a:effectLst/>
                <a:latin typeface="Epilogue"/>
              </a:rPr>
              <a:t> Management </a:t>
            </a:r>
            <a:r>
              <a:rPr lang="fr-FR" b="1" i="0" dirty="0" err="1">
                <a:solidFill>
                  <a:schemeClr val="accent5">
                    <a:lumMod val="75000"/>
                  </a:schemeClr>
                </a:solidFill>
                <a:effectLst/>
                <a:latin typeface="Epilogue"/>
              </a:rPr>
              <a:t>Syste</a:t>
            </a:r>
            <a:endParaRPr lang="fr-FR" b="1" i="0" dirty="0">
              <a:solidFill>
                <a:schemeClr val="accent5">
                  <a:lumMod val="75000"/>
                </a:schemeClr>
              </a:solidFill>
              <a:effectLst/>
              <a:latin typeface="Epilogue"/>
            </a:endParaRPr>
          </a:p>
          <a:p>
            <a:endParaRPr lang="fr-FR" dirty="0">
              <a:solidFill>
                <a:schemeClr val="accent1">
                  <a:lumMod val="50000"/>
                </a:schemeClr>
              </a:solidFill>
            </a:endParaRPr>
          </a:p>
          <a:p>
            <a:endParaRPr lang="fr-FR" dirty="0">
              <a:solidFill>
                <a:schemeClr val="accent1">
                  <a:lumMod val="50000"/>
                </a:schemeClr>
              </a:solidFill>
            </a:endParaRPr>
          </a:p>
        </p:txBody>
      </p:sp>
      <p:sp>
        <p:nvSpPr>
          <p:cNvPr id="8" name="ZoneTexte 7">
            <a:extLst>
              <a:ext uri="{FF2B5EF4-FFF2-40B4-BE49-F238E27FC236}">
                <a16:creationId xmlns:a16="http://schemas.microsoft.com/office/drawing/2014/main" id="{1CFAB245-03A1-40DB-A28F-127906D226DB}"/>
              </a:ext>
            </a:extLst>
          </p:cNvPr>
          <p:cNvSpPr txBox="1"/>
          <p:nvPr/>
        </p:nvSpPr>
        <p:spPr>
          <a:xfrm>
            <a:off x="1027089" y="1690140"/>
            <a:ext cx="10688392" cy="562911"/>
          </a:xfrm>
          <a:prstGeom prst="rect">
            <a:avLst/>
          </a:prstGeom>
          <a:noFill/>
        </p:spPr>
        <p:txBody>
          <a:bodyPr wrap="square">
            <a:spAutoFit/>
          </a:bodyPr>
          <a:lstStyle/>
          <a:p>
            <a:pPr>
              <a:lnSpc>
                <a:spcPct val="200000"/>
              </a:lnSpc>
            </a:pPr>
            <a:endParaRPr lang="fr-FR" dirty="0">
              <a:solidFill>
                <a:schemeClr val="bg1"/>
              </a:solidFill>
            </a:endParaRPr>
          </a:p>
        </p:txBody>
      </p:sp>
      <p:pic>
        <p:nvPicPr>
          <p:cNvPr id="5" name="Image 4">
            <a:extLst>
              <a:ext uri="{FF2B5EF4-FFF2-40B4-BE49-F238E27FC236}">
                <a16:creationId xmlns:a16="http://schemas.microsoft.com/office/drawing/2014/main" id="{962F8698-345F-460E-B17C-9D6F335B5C99}"/>
              </a:ext>
            </a:extLst>
          </p:cNvPr>
          <p:cNvPicPr>
            <a:picLocks noChangeAspect="1"/>
          </p:cNvPicPr>
          <p:nvPr/>
        </p:nvPicPr>
        <p:blipFill>
          <a:blip r:embed="rId2"/>
          <a:stretch>
            <a:fillRect/>
          </a:stretch>
        </p:blipFill>
        <p:spPr>
          <a:xfrm>
            <a:off x="1141653" y="1728138"/>
            <a:ext cx="9213234" cy="4679616"/>
          </a:xfrm>
          <a:prstGeom prst="rect">
            <a:avLst/>
          </a:prstGeom>
        </p:spPr>
      </p:pic>
    </p:spTree>
    <p:extLst>
      <p:ext uri="{BB962C8B-B14F-4D97-AF65-F5344CB8AC3E}">
        <p14:creationId xmlns:p14="http://schemas.microsoft.com/office/powerpoint/2010/main" val="42338230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C0F515-E037-4242-9B8F-42BE2227C1DB}"/>
              </a:ext>
            </a:extLst>
          </p:cNvPr>
          <p:cNvSpPr>
            <a:spLocks noGrp="1"/>
          </p:cNvSpPr>
          <p:nvPr>
            <p:ph type="ctrTitle"/>
          </p:nvPr>
        </p:nvSpPr>
        <p:spPr/>
        <p:txBody>
          <a:bodyPr/>
          <a:lstStyle/>
          <a:p>
            <a:r>
              <a:rPr lang="fr-FR" dirty="0" err="1"/>
              <a:t>Thanks</a:t>
            </a:r>
            <a:r>
              <a:rPr lang="fr-FR" dirty="0"/>
              <a:t> for </a:t>
            </a:r>
            <a:r>
              <a:rPr lang="fr-FR" dirty="0" err="1"/>
              <a:t>your</a:t>
            </a:r>
            <a:r>
              <a:rPr lang="fr-FR" dirty="0"/>
              <a:t> attention</a:t>
            </a:r>
          </a:p>
        </p:txBody>
      </p:sp>
    </p:spTree>
    <p:extLst>
      <p:ext uri="{BB962C8B-B14F-4D97-AF65-F5344CB8AC3E}">
        <p14:creationId xmlns:p14="http://schemas.microsoft.com/office/powerpoint/2010/main" val="1694179268"/>
      </p:ext>
    </p:extLst>
  </p:cSld>
  <p:clrMapOvr>
    <a:masterClrMapping/>
  </p:clrMapOvr>
</p:sld>
</file>

<file path=ppt/theme/theme1.xml><?xml version="1.0" encoding="utf-8"?>
<a:theme xmlns:a="http://schemas.openxmlformats.org/drawingml/2006/main" name="Colis">
  <a:themeElements>
    <a:clrScheme name="Parcel">
      <a:dk1>
        <a:srgbClr val="000000"/>
      </a:dk1>
      <a:lt1>
        <a:srgbClr val="FFFFFF"/>
      </a:lt1>
      <a:dk2>
        <a:srgbClr val="635D4D"/>
      </a:dk2>
      <a:lt2>
        <a:srgbClr val="D8D6BA"/>
      </a:lt2>
      <a:accent1>
        <a:srgbClr val="9CBEBD"/>
      </a:accent1>
      <a:accent2>
        <a:srgbClr val="D2CB6C"/>
      </a:accent2>
      <a:accent3>
        <a:srgbClr val="9D9A93"/>
      </a:accent3>
      <a:accent4>
        <a:srgbClr val="C89F5D"/>
      </a:accent4>
      <a:accent5>
        <a:srgbClr val="A9A57C"/>
      </a:accent5>
      <a:accent6>
        <a:srgbClr val="95A39D"/>
      </a:accent6>
      <a:hlink>
        <a:srgbClr val="D25814"/>
      </a:hlink>
      <a:folHlink>
        <a:srgbClr val="849A0A"/>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0BDC4BB7-8AF9-46FD-8C32-AB93AC9C4100}"/>
    </a:ext>
  </a:extLst>
</a:theme>
</file>

<file path=docProps/app.xml><?xml version="1.0" encoding="utf-8"?>
<Properties xmlns="http://schemas.openxmlformats.org/officeDocument/2006/extended-properties" xmlns:vt="http://schemas.openxmlformats.org/officeDocument/2006/docPropsVTypes">
  <Template>TM10001115[[fn=Colis]]</Template>
  <TotalTime>57</TotalTime>
  <Words>544</Words>
  <Application>Microsoft Office PowerPoint</Application>
  <PresentationFormat>Grand écran</PresentationFormat>
  <Paragraphs>39</Paragraphs>
  <Slides>12</Slides>
  <Notes>0</Notes>
  <HiddenSlides>0</HiddenSlides>
  <MMClips>0</MMClips>
  <ScaleCrop>false</ScaleCrop>
  <HeadingPairs>
    <vt:vector size="6" baseType="variant">
      <vt:variant>
        <vt:lpstr>Polices utilisées</vt:lpstr>
      </vt:variant>
      <vt:variant>
        <vt:i4>10</vt:i4>
      </vt:variant>
      <vt:variant>
        <vt:lpstr>Thème</vt:lpstr>
      </vt:variant>
      <vt:variant>
        <vt:i4>1</vt:i4>
      </vt:variant>
      <vt:variant>
        <vt:lpstr>Titres des diapositives</vt:lpstr>
      </vt:variant>
      <vt:variant>
        <vt:i4>12</vt:i4>
      </vt:variant>
    </vt:vector>
  </HeadingPairs>
  <TitlesOfParts>
    <vt:vector size="23" baseType="lpstr">
      <vt:lpstr>AmazonEmberBold</vt:lpstr>
      <vt:lpstr>AmazonEmberLight</vt:lpstr>
      <vt:lpstr>Arial</vt:lpstr>
      <vt:lpstr>bebas-neue-pro-expanded</vt:lpstr>
      <vt:lpstr>Epilogue</vt:lpstr>
      <vt:lpstr>Gill Sans MT</vt:lpstr>
      <vt:lpstr>inter-regular</vt:lpstr>
      <vt:lpstr>Montserrat</vt:lpstr>
      <vt:lpstr>Mulish</vt:lpstr>
      <vt:lpstr>Source Sans Pro</vt:lpstr>
      <vt:lpstr>Colis</vt:lpstr>
      <vt:lpstr>Introduction to database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Thanks for your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database</dc:title>
  <dc:creator>ASUS</dc:creator>
  <cp:lastModifiedBy>ASUS</cp:lastModifiedBy>
  <cp:revision>1</cp:revision>
  <dcterms:created xsi:type="dcterms:W3CDTF">2022-05-09T14:29:00Z</dcterms:created>
  <dcterms:modified xsi:type="dcterms:W3CDTF">2022-05-09T15:26:17Z</dcterms:modified>
</cp:coreProperties>
</file>